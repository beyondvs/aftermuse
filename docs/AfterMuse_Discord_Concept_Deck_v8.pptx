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AfterMuse를 왜 진행해야 하는지, 그리고 사용자가 어떤 효용을 얻는지를 중심으로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 노트 문제를 사용 가치의 출발점으로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AfterMuse는 요약 앱이 아니라 사용자의 생각을 보존하는 Reflection 도구다.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사용자에게 주는 실질 가치 세 가지를 명확히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제품 루프를 사용자가 이해하기 쉬운 언어로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기술 디테일이 아니라 사용자 신뢰를 만드는 제품 원칙으로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Reader Insight를 유료 기능이 아니라 사용자가 얻는 보상과 효용으로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프로젝트를 진행해야 하는 이유를 개발/제품 검증 관점으로 정리한다.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MVP가 작아 보이지만 핵심 가치 검증에는 충분함을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테스트 기준을 제품 가치와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장기 확장은 기능 약속이 아니라 브랜드와 도메인 설계의 가능성으로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토론 질문으로 마무리하되, 구현의 다음 단계가 명확하게 보이게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-1-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23560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548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58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TOY PROJECT CONCEPT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9326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AfterMuse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58368" y="15087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책을 덮은 뒤,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생각이 시작됩니다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713232" y="2788920"/>
            <a:ext cx="36576" cy="713232"/>
          </a:xfrm>
          <a:prstGeom prst="rect">
            <a:avLst/>
          </a:prstGeom>
          <a:solidFill>
            <a:srgbClr val="C58A43"/>
          </a:solidFill>
          <a:ln w="12700">
            <a:solidFill>
              <a:srgbClr val="C58A4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2788920"/>
            <a:ext cx="4498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대신 써주는 후기가 아니라,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4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질문으로 내 생각을 끌어내는 Reflection 서비스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13232" y="598932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F2D8B7"/>
          </a:solidFill>
          <a:ln w="12700">
            <a:solidFill>
              <a:srgbClr val="F2D8B7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53328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Books-first MVP · 가치 검증용 발표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580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AfterMuse · Why Build It</a:t>
            </a:r>
            <a:endParaRPr lang="en-US" sz="580" dirty="0"/>
          </a:p>
        </p:txBody>
      </p:sp>
      <p:sp>
        <p:nvSpPr>
          <p:cNvPr id="12" name="Text 9"/>
          <p:cNvSpPr/>
          <p:nvPr/>
        </p:nvSpPr>
        <p:spPr>
          <a:xfrm>
            <a:off x="11228832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5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58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WHY THIS PROJECT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읽은 뒤의 생각은 쉽게 사라진다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독서 앱은 책을 관리하지만, 책이 남긴 생각을 붙잡아주지는 못한다.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36576" cy="868680"/>
          </a:xfrm>
          <a:prstGeom prst="rect">
            <a:avLst/>
          </a:prstGeom>
          <a:solidFill>
            <a:srgbClr val="C58A43"/>
          </a:solidFill>
          <a:ln w="12700">
            <a:solidFill>
              <a:srgbClr val="C58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57400"/>
            <a:ext cx="4590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문제는 “독후감을 못 쓰는 사람”이 아니라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읽은 뒤의 생각을 꺼낼 통로가 없다는 점이다.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71032" y="201168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F0D7B8"/>
          </a:solidFill>
          <a:ln w="10160">
            <a:solidFill>
              <a:srgbClr val="E2D6C8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91072" y="21762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58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97880" y="29992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완독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912864" y="2450592"/>
            <a:ext cx="512064" cy="0"/>
          </a:xfrm>
          <a:prstGeom prst="line">
            <a:avLst/>
          </a:prstGeom>
          <a:noFill/>
          <a:ln w="17780">
            <a:solidFill>
              <a:srgbClr val="D8CAB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525512" y="201168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0160">
            <a:solidFill>
              <a:srgbClr val="E2D6C8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45552" y="21762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52360" y="29992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희미한 기억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467344" y="2450592"/>
            <a:ext cx="512064" cy="0"/>
          </a:xfrm>
          <a:prstGeom prst="line">
            <a:avLst/>
          </a:prstGeom>
          <a:noFill/>
          <a:ln w="17780">
            <a:solidFill>
              <a:srgbClr val="D8CAB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79992" y="201168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0160">
            <a:solidFill>
              <a:srgbClr val="E2D6C8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00032" y="21762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006840" y="29992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빈 노트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10021824" y="2450592"/>
            <a:ext cx="512064" cy="0"/>
          </a:xfrm>
          <a:prstGeom prst="line">
            <a:avLst/>
          </a:prstGeom>
          <a:noFill/>
          <a:ln w="17780">
            <a:solidFill>
              <a:srgbClr val="D8CAB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634472" y="201168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0160">
            <a:solidFill>
              <a:srgbClr val="E2D6C8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54512" y="21762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61320" y="29992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기록 포기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419088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58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AfterMuse가 개입할 지점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19088" y="4187952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완독 직후, 기억이 식기 전에 질문으로 생각을 꺼내고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 답변만으로 사용자의 언어를 보존한다.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8580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AfterMuse · Why Build It</a:t>
            </a:r>
            <a:endParaRPr lang="en-US" sz="580" dirty="0"/>
          </a:p>
        </p:txBody>
      </p:sp>
      <p:sp>
        <p:nvSpPr>
          <p:cNvPr id="25" name="Text 23"/>
          <p:cNvSpPr/>
          <p:nvPr/>
        </p:nvSpPr>
        <p:spPr>
          <a:xfrm>
            <a:off x="11228832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-3-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F7F1E8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548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58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CORE INSIGHT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93268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요약은 이미 많다.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필요한 것은 “내 생각”이다.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49808" y="2331720"/>
            <a:ext cx="44348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0160">
            <a:solidFill>
              <a:srgbClr val="E1D6C8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2578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대체재: 책 요약, AI 독후감, 템플릿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9808" y="3429000"/>
            <a:ext cx="4434840" cy="960120"/>
          </a:xfrm>
          <a:prstGeom prst="roundRect">
            <a:avLst>
              <a:gd name="adj" fmla="val 6667"/>
            </a:avLst>
          </a:prstGeom>
          <a:solidFill>
            <a:srgbClr val="F0D7B8"/>
          </a:solidFill>
          <a:ln w="10160">
            <a:solidFill>
              <a:srgbClr val="F0D7B8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37033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AfterMuse: 질문으로 꺼낸 사용자의 관점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86384" y="502920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결론을 대신 정하지 않고, 사용자가 실제로 답한 범위 안에서만 정리한다.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8580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AfterMuse · Why Build It</a:t>
            </a:r>
            <a:endParaRPr lang="en-US" sz="580" dirty="0"/>
          </a:p>
        </p:txBody>
      </p:sp>
      <p:sp>
        <p:nvSpPr>
          <p:cNvPr id="12" name="Text 9"/>
          <p:cNvSpPr/>
          <p:nvPr/>
        </p:nvSpPr>
        <p:spPr>
          <a:xfrm>
            <a:off x="11228832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5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58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USER VALUE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사용자가 얻는 효용은 세 가지다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쓰기 부담을 줄이고, 생각을 깊게 만들고, 기록을 다음 선택으로 연결한다.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3063240" cy="310896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0160">
            <a:solidFill>
              <a:srgbClr val="E1D6C8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240280"/>
            <a:ext cx="530352" cy="530352"/>
          </a:xfrm>
          <a:prstGeom prst="ellipse">
            <a:avLst/>
          </a:prstGeom>
          <a:solidFill>
            <a:srgbClr val="10243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23500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9992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쓰기 부담 감소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3703320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빈 문서가 아니라 질문에 답하는 방식이라 시작 장벽이 낮다.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0" y="1965960"/>
            <a:ext cx="3063240" cy="3108960"/>
          </a:xfrm>
          <a:prstGeom prst="roundRect">
            <a:avLst>
              <a:gd name="adj" fmla="val 2090"/>
            </a:avLst>
          </a:prstGeom>
          <a:solidFill>
            <a:srgbClr val="F6E4CE"/>
          </a:solidFill>
          <a:ln w="10160">
            <a:solidFill>
              <a:srgbClr val="E1D6C8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2240280"/>
            <a:ext cx="530352" cy="530352"/>
          </a:xfrm>
          <a:prstGeom prst="ellipse">
            <a:avLst/>
          </a:prstGeom>
          <a:solidFill>
            <a:srgbClr val="C58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23500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9992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생각의 밀도 증가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00600" y="3703320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꼬리질문이 모호한 감상을 구체적인 관점으로 바꾼다.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21040" y="1965960"/>
            <a:ext cx="3063240" cy="310896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0160">
            <a:solidFill>
              <a:srgbClr val="E1D6C8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49640" y="2240280"/>
            <a:ext cx="530352" cy="530352"/>
          </a:xfrm>
          <a:prstGeom prst="ellipse">
            <a:avLst/>
          </a:prstGeom>
          <a:solidFill>
            <a:srgbClr val="10243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05088" y="23500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49640" y="29992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기록의 재사용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49640" y="3703320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Reflection이 쌓이면 내 취향과 다음 책 선택의 근거가 된다.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6112" y="562356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효용: 읽은 시간을 “사라지는 경험”이 아니라 “남는 자기 이해”로 바꾼다.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AfterMuse · Why Build It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>
            <a:off x="11228832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5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58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PRODUCT LOOP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책을 선택하는 순간부터 가치가 쌓인다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Reading은 무료 기록 공간, AI Reflection은 생각을 완성하는 핵심 경험이다.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788920"/>
            <a:ext cx="16916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E1D6C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도서 선택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3383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Book metadata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2578608" y="3310128"/>
            <a:ext cx="374904" cy="0"/>
          </a:xfrm>
          <a:prstGeom prst="line">
            <a:avLst/>
          </a:prstGeom>
          <a:noFill/>
          <a:ln w="16510">
            <a:solidFill>
              <a:srgbClr val="C58A4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63240" y="2788920"/>
            <a:ext cx="16916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E1D6C8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72968" y="3383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기대·짧은 메모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818888" y="3310128"/>
            <a:ext cx="374904" cy="0"/>
          </a:xfrm>
          <a:prstGeom prst="line">
            <a:avLst/>
          </a:prstGeom>
          <a:noFill/>
          <a:ln w="16510">
            <a:solidFill>
              <a:srgbClr val="C58A4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03520" y="2788920"/>
            <a:ext cx="1691640" cy="1051560"/>
          </a:xfrm>
          <a:prstGeom prst="roundRect">
            <a:avLst>
              <a:gd name="adj" fmla="val 6087"/>
            </a:avLst>
          </a:prstGeom>
          <a:solidFill>
            <a:srgbClr val="F0D7B8"/>
          </a:solidFill>
          <a:ln w="10160">
            <a:solidFill>
              <a:srgbClr val="E1D6C8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13248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Interview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13248" y="3383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질문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059168" y="3310128"/>
            <a:ext cx="374904" cy="0"/>
          </a:xfrm>
          <a:prstGeom prst="line">
            <a:avLst/>
          </a:prstGeom>
          <a:noFill/>
          <a:ln w="16510">
            <a:solidFill>
              <a:srgbClr val="C58A4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43800" y="2788920"/>
            <a:ext cx="16916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E1D6C8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53528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Reflection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53528" y="3383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답변 기반 노트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9299448" y="3310128"/>
            <a:ext cx="374904" cy="0"/>
          </a:xfrm>
          <a:prstGeom prst="line">
            <a:avLst/>
          </a:prstGeom>
          <a:noFill/>
          <a:ln w="16510">
            <a:solidFill>
              <a:srgbClr val="C58A4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784080" y="2788920"/>
            <a:ext cx="16916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E1D6C8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93808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Reader Insight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93808" y="3383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다른 독자와 비교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960120" y="4892040"/>
            <a:ext cx="36576" cy="603504"/>
          </a:xfrm>
          <a:prstGeom prst="rect">
            <a:avLst/>
          </a:prstGeom>
          <a:solidFill>
            <a:srgbClr val="C58A43"/>
          </a:solidFill>
          <a:ln w="12700">
            <a:solidFill>
              <a:srgbClr val="C58A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24712" y="4892040"/>
            <a:ext cx="9802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가치는 한 번의 노트에서 끝나지 않는다.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기록이 쌓일수록 개인 취향과 책 평가 데이터가 함께 좋아진다.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580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AfterMuse · Why Build It</a:t>
            </a:r>
            <a:endParaRPr lang="en-US" sz="580" dirty="0"/>
          </a:p>
        </p:txBody>
      </p:sp>
      <p:sp>
        <p:nvSpPr>
          <p:cNvPr id="27" name="Text 25"/>
          <p:cNvSpPr/>
          <p:nvPr/>
        </p:nvSpPr>
        <p:spPr>
          <a:xfrm>
            <a:off x="11228832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5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-5-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760720" cy="2011680"/>
          </a:xfrm>
          <a:prstGeom prst="rect">
            <a:avLst/>
          </a:prstGeom>
          <a:solidFill>
            <a:srgbClr val="000000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5440680"/>
            <a:ext cx="9052560" cy="685800"/>
          </a:xfrm>
          <a:prstGeom prst="rect">
            <a:avLst/>
          </a:prstGeom>
          <a:solidFill>
            <a:srgbClr val="000000">
              <a:alpha val="5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5486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0D7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TRUST MECHANISM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9144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가치가 있으려면,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질문이 신뢰 가능해야 한다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31520" y="2331720"/>
            <a:ext cx="2834640" cy="749808"/>
          </a:xfrm>
          <a:prstGeom prst="roundRect">
            <a:avLst>
              <a:gd name="adj" fmla="val 8537"/>
            </a:avLst>
          </a:prstGeom>
          <a:solidFill>
            <a:srgbClr val="F7F1E8"/>
          </a:solidFill>
          <a:ln w="10160">
            <a:solidFill>
              <a:srgbClr val="F7F1E8">
                <a:alpha val="8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2542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Book Knowledge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2688" y="27980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 있는 책 지식만 사용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886200" y="2331720"/>
            <a:ext cx="2834640" cy="749808"/>
          </a:xfrm>
          <a:prstGeom prst="roundRect">
            <a:avLst>
              <a:gd name="adj" fmla="val 8537"/>
            </a:avLst>
          </a:prstGeom>
          <a:solidFill>
            <a:srgbClr val="F7F1E8"/>
          </a:solidFill>
          <a:ln w="10160">
            <a:solidFill>
              <a:srgbClr val="F7F1E8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87368" y="2542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READY_LIMITED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87368" y="27980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모르면 아는 척하지 않음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040880" y="2331720"/>
            <a:ext cx="2834640" cy="749808"/>
          </a:xfrm>
          <a:prstGeom prst="roundRect">
            <a:avLst>
              <a:gd name="adj" fmla="val 8537"/>
            </a:avLst>
          </a:prstGeom>
          <a:solidFill>
            <a:srgbClr val="F7F1E8"/>
          </a:solidFill>
          <a:ln w="10160">
            <a:solidFill>
              <a:srgbClr val="F7F1E8">
                <a:alpha val="8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42048" y="2542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Answer-bounded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242048" y="279806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사용자가 말한 범위 안에서 정리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49808" y="5715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AfterMuse가 팔아야 하는 것은 “그럴듯한 글”이 아니라 “신뢰할 수 있는 질문 경험”이다.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8580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AfterMuse · Why Build It</a:t>
            </a:r>
            <a:endParaRPr lang="en-US" sz="580" dirty="0"/>
          </a:p>
        </p:txBody>
      </p:sp>
      <p:sp>
        <p:nvSpPr>
          <p:cNvPr id="18" name="Text 15"/>
          <p:cNvSpPr/>
          <p:nvPr/>
        </p:nvSpPr>
        <p:spPr>
          <a:xfrm>
            <a:off x="11228832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5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58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READER INSIGHT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생각을 먼저 정리한 뒤, 다른 사람의 관점이 열린다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타인의 평가가 내 감상을 오염시키기 전에 먼저 내 Reflection을 만든다.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4572000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0160">
            <a:solidFill>
              <a:srgbClr val="E1D6C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331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일반적인 책 평가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926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읽기 전부터 별점과 리뷰를 보고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감상이 흔들릴 수 있다.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0" y="2057400"/>
            <a:ext cx="4617720" cy="2423160"/>
          </a:xfrm>
          <a:prstGeom prst="roundRect">
            <a:avLst>
              <a:gd name="adj" fmla="val 2642"/>
            </a:avLst>
          </a:prstGeom>
          <a:solidFill>
            <a:srgbClr val="F0D7B8"/>
          </a:solidFill>
          <a:ln w="10160">
            <a:solidFill>
              <a:srgbClr val="F0D7B8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331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8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AfterMuse 방식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2926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Reflection을 먼저 완성하고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 다음 다른 독자의 Insight와 비교한다.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40680" y="3246120"/>
            <a:ext cx="822960" cy="0"/>
          </a:xfrm>
          <a:prstGeom prst="line">
            <a:avLst/>
          </a:prstGeom>
          <a:noFill/>
          <a:ln w="20320">
            <a:solidFill>
              <a:srgbClr val="C58A43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14400" y="525780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효용: “나만의 기록”과 “집단의 관점”을 함께 얻는다.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AfterMuse · Why Build It</a:t>
            </a:r>
            <a:endParaRPr lang="en-US" sz="580" dirty="0"/>
          </a:p>
        </p:txBody>
      </p:sp>
      <p:sp>
        <p:nvSpPr>
          <p:cNvPr id="14" name="Text 12"/>
          <p:cNvSpPr/>
          <p:nvPr/>
        </p:nvSpPr>
        <p:spPr>
          <a:xfrm>
            <a:off x="11228832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5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0D7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WHY BUILD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9509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프로젝트는 “AI 요약” 다음의 문제를 다룬다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57276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FE7E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 서비스의 진짜 난제인 신뢰·맥락·사용자 소유감을 작은 MVP 안에서 검증할 수 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2240280" cy="1920240"/>
          </a:xfrm>
          <a:prstGeom prst="roundRect">
            <a:avLst>
              <a:gd name="adj" fmla="val 3333"/>
            </a:avLst>
          </a:prstGeom>
          <a:solidFill>
            <a:srgbClr val="173044"/>
          </a:solidFill>
          <a:ln w="10160">
            <a:solidFill>
              <a:srgbClr val="3F5A6D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971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D7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Trust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7552" y="352044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4F7F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모르는 책을 아는 척하지 않는 질문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3611880" y="2743200"/>
            <a:ext cx="2240280" cy="1920240"/>
          </a:xfrm>
          <a:prstGeom prst="roundRect">
            <a:avLst>
              <a:gd name="adj" fmla="val 3333"/>
            </a:avLst>
          </a:prstGeom>
          <a:solidFill>
            <a:srgbClr val="173044"/>
          </a:solidFill>
          <a:ln w="10160">
            <a:solidFill>
              <a:srgbClr val="3F5A6D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6472" y="2971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D7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776472" y="352044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4F7F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Book Knowledge와 사용자의 Reading 기록 결합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6400800" y="2743200"/>
            <a:ext cx="2240280" cy="1920240"/>
          </a:xfrm>
          <a:prstGeom prst="roundRect">
            <a:avLst>
              <a:gd name="adj" fmla="val 3333"/>
            </a:avLst>
          </a:prstGeom>
          <a:solidFill>
            <a:srgbClr val="173044"/>
          </a:solidFill>
          <a:ln w="10160">
            <a:solidFill>
              <a:srgbClr val="3F5A6D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2971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D7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Ownership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65392" y="352044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4F7F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문장이 아니라 사용자의 답변 기반 기록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9189720" y="2743200"/>
            <a:ext cx="2240280" cy="1920240"/>
          </a:xfrm>
          <a:prstGeom prst="roundRect">
            <a:avLst>
              <a:gd name="adj" fmla="val 3333"/>
            </a:avLst>
          </a:prstGeom>
          <a:solidFill>
            <a:srgbClr val="173044"/>
          </a:solidFill>
          <a:ln w="10160">
            <a:solidFill>
              <a:srgbClr val="3F5A6D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54312" y="2971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D7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Loop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354312" y="352044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4F7F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Reflection → Insight → 다음 선택으로 이어지는 데이터 자산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850392" y="5321808"/>
            <a:ext cx="36576" cy="658368"/>
          </a:xfrm>
          <a:prstGeom prst="rect">
            <a:avLst/>
          </a:prstGeom>
          <a:solidFill>
            <a:srgbClr val="C58A43"/>
          </a:solidFill>
          <a:ln w="12700">
            <a:solidFill>
              <a:srgbClr val="C58A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4984" y="5321808"/>
            <a:ext cx="9710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F1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단순히 기능을 늘리는 토이프로젝트가 아니라,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7F1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 제품이 사용자에게 “왜 필요한가”를 검증하는 프로젝트다.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580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AfterMuse · Why Build It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28832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5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58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MVP STRATEGY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작게 만들지만, 핵심 가설은 끝까지 검증한다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확장 기능보다 “좋은 질문 → 내 Reflection” 루프를 먼저 완성한다.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347472" cy="347472"/>
          </a:xfrm>
          <a:prstGeom prst="ellipse">
            <a:avLst/>
          </a:prstGeom>
          <a:solidFill>
            <a:srgbClr val="10243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933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1444752" y="19110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책 검색·선택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29000" y="19110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정확한 책을 고르고 Reading을 시작한다.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633472"/>
            <a:ext cx="347472" cy="347472"/>
          </a:xfrm>
          <a:prstGeom prst="ellipse">
            <a:avLst/>
          </a:prstGeom>
          <a:solidFill>
            <a:srgbClr val="10243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70662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144475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읽는 중 기록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6243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기대와 짧은 메모를 남긴다.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3346704"/>
            <a:ext cx="347472" cy="347472"/>
          </a:xfrm>
          <a:prstGeom prst="ellipse">
            <a:avLst/>
          </a:prstGeom>
          <a:solidFill>
            <a:srgbClr val="C58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41985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1444752" y="3337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Interview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9000" y="33375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Coverage 기반 질문으로 생각을 끌어낸다.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4059936"/>
            <a:ext cx="347472" cy="347472"/>
          </a:xfrm>
          <a:prstGeom prst="ellipse">
            <a:avLst/>
          </a:prstGeom>
          <a:solidFill>
            <a:srgbClr val="10243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1330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1444752" y="4050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Reflection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29000" y="405079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답변만으로 독서노트를 생성·수정·완료한다.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4400" y="4773168"/>
            <a:ext cx="347472" cy="347472"/>
          </a:xfrm>
          <a:prstGeom prst="ellipse">
            <a:avLst/>
          </a:prstGeom>
          <a:solidFill>
            <a:srgbClr val="10243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48463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1444752" y="47640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Reader Insight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29000" y="476402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노트를 완성한 뒤 다른 독자 관점과 비교한다.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44000" y="1874520"/>
            <a:ext cx="2103120" cy="3520440"/>
          </a:xfrm>
          <a:prstGeom prst="roundRect">
            <a:avLst>
              <a:gd name="adj" fmla="val 3043"/>
            </a:avLst>
          </a:prstGeom>
          <a:solidFill>
            <a:srgbClr val="F6E4CE"/>
          </a:solidFill>
          <a:ln w="10160">
            <a:solidFill>
              <a:srgbClr val="F6E4CE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72600" y="2240280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MVP에서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의도적으로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미루는 것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372600" y="3337560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결제 · Plus · 소셜 피드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OCR · 전자책 연동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네이티브 앱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8580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AfterMuse · Why Build It</a:t>
            </a:r>
            <a:endParaRPr lang="en-US" sz="580" dirty="0"/>
          </a:p>
        </p:txBody>
      </p:sp>
      <p:sp>
        <p:nvSpPr>
          <p:cNvPr id="29" name="Text 27"/>
          <p:cNvSpPr/>
          <p:nvPr/>
        </p:nvSpPr>
        <p:spPr>
          <a:xfrm>
            <a:off x="11228832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5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58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성공 기준은 “기능이 있다”가 아니라 “생각이 좋아졌는가”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MVP 검증은 질문 품질과 최종 Reflection의 자기소유감으로 판단한다.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3291840" cy="2560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E1D6C8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331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실험 대상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926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8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유명 책 5권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C58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C58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신간·비주류 책 5권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0" y="2011680"/>
            <a:ext cx="6675120" cy="2560320"/>
          </a:xfrm>
          <a:prstGeom prst="roundRect">
            <a:avLst>
              <a:gd name="adj" fmla="val 2500"/>
            </a:avLst>
          </a:prstGeom>
          <a:solidFill>
            <a:srgbClr val="F6E4CE"/>
          </a:solidFill>
          <a:ln w="10160">
            <a:solidFill>
              <a:srgbClr val="F6E4CE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331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질문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919472" y="2880360"/>
            <a:ext cx="164592" cy="164592"/>
          </a:xfrm>
          <a:prstGeom prst="ellipse">
            <a:avLst/>
          </a:prstGeom>
          <a:solidFill>
            <a:srgbClr val="C58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0368" y="28163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질문이 책과 관련 있는가?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19472" y="3264408"/>
            <a:ext cx="164592" cy="164592"/>
          </a:xfrm>
          <a:prstGeom prst="ellipse">
            <a:avLst/>
          </a:prstGeom>
          <a:solidFill>
            <a:srgbClr val="C58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0368" y="32004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책을 모르는 상태에서 아는 척하지 않는가?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919472" y="3648456"/>
            <a:ext cx="164592" cy="164592"/>
          </a:xfrm>
          <a:prstGeom prst="ellipse">
            <a:avLst/>
          </a:prstGeom>
          <a:solidFill>
            <a:srgbClr val="C58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0368" y="358444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꼬리질문이 내 생각을 더 구체화하는가?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19472" y="4032504"/>
            <a:ext cx="164592" cy="164592"/>
          </a:xfrm>
          <a:prstGeom prst="ellipse">
            <a:avLst/>
          </a:prstGeom>
          <a:solidFill>
            <a:srgbClr val="C58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39684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노트가 내 생각처럼 느껴지는가?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5120640"/>
            <a:ext cx="36576" cy="658368"/>
          </a:xfrm>
          <a:prstGeom prst="rect">
            <a:avLst/>
          </a:prstGeom>
          <a:solidFill>
            <a:srgbClr val="C58A43"/>
          </a:solidFill>
          <a:ln w="12700">
            <a:solidFill>
              <a:srgbClr val="C58A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5120640"/>
            <a:ext cx="9893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기준을 통과하면 AfterMuse는 단순한 AI 글쓰기 도구가 아니라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“읽은 뒤의 생각을 남기는 서비스”로 성립한다.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580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AfterMuse · Why Build It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11228832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5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-11-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23560" cy="2788920"/>
          </a:xfrm>
          <a:prstGeom prst="rect">
            <a:avLst/>
          </a:prstGeom>
          <a:solidFill>
            <a:srgbClr val="000000">
              <a:alpha val="5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5029200"/>
            <a:ext cx="8686800" cy="96012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548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0D7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LONG-TERM VALUE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914400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책에서 시작하지만,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핵심은 경험 후 Reflection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31520" y="214884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F7F1E8"/>
          </a:solidFill>
          <a:ln w="12700">
            <a:solidFill>
              <a:srgbClr val="F7F1E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221284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Books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737360" y="214884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F7F1E8"/>
          </a:solidFill>
          <a:ln w="12700">
            <a:solidFill>
              <a:srgbClr val="F7F1E8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47088" y="221284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Games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43200" y="214884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F7F1E8"/>
          </a:solidFill>
          <a:ln w="12700">
            <a:solidFill>
              <a:srgbClr val="F7F1E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52928" y="221284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Films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749040" y="214884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F7F1E8"/>
          </a:solidFill>
          <a:ln w="12700">
            <a:solidFill>
              <a:srgbClr val="F7F1E8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58768" y="221284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Drama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49808" y="525780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사용자가 반복해서 반응하는 주제와 관점을 이해하면,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4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도서 추천을 넘어 콘텐츠 경험 전체의 취향 프로필로 확장할 수 있다.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8580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AfterMuse · Why Build It</a:t>
            </a:r>
            <a:endParaRPr lang="en-US" sz="580" dirty="0"/>
          </a:p>
        </p:txBody>
      </p:sp>
      <p:sp>
        <p:nvSpPr>
          <p:cNvPr id="17" name="Text 14"/>
          <p:cNvSpPr/>
          <p:nvPr/>
        </p:nvSpPr>
        <p:spPr>
          <a:xfrm>
            <a:off x="11228832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5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58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DISCUSSION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같이 검토하고 싶은 질문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96C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제품 가치와 구현 가능성을 함께 확인하기 위한 피드백 포인트다.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0120" y="1938528"/>
            <a:ext cx="301752" cy="301752"/>
          </a:xfrm>
          <a:prstGeom prst="ellipse">
            <a:avLst/>
          </a:prstGeom>
          <a:solidFill>
            <a:srgbClr val="C58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2002536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1444752" y="1883664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읽은 뒤의 생각을 질문으로 끌어내는 경험이 실제로 매력적인가?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60120" y="2523744"/>
            <a:ext cx="301752" cy="301752"/>
          </a:xfrm>
          <a:prstGeom prst="ellipse">
            <a:avLst/>
          </a:prstGeom>
          <a:solidFill>
            <a:srgbClr val="C58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2587752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1444752" y="2468880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대신 쓰지 않고 “내 답변만으로 정리한다”는 원칙이 신뢰를 만드는가?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0120" y="3108960"/>
            <a:ext cx="301752" cy="301752"/>
          </a:xfrm>
          <a:prstGeom prst="ellipse">
            <a:avLst/>
          </a:prstGeom>
          <a:solidFill>
            <a:srgbClr val="C58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72968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1444752" y="3054096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Reader Insight가 독서노트 작성의 보상으로 작동할 수 있는가?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60120" y="3694176"/>
            <a:ext cx="301752" cy="301752"/>
          </a:xfrm>
          <a:prstGeom prst="ellipse">
            <a:avLst/>
          </a:prstGeom>
          <a:solidFill>
            <a:srgbClr val="C58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3758184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1444752" y="363931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READY_LIMITED 정책이 신간·비주류 책에서도 충분한 경험을 만들 수 있는가?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60120" y="4279392"/>
            <a:ext cx="301752" cy="301752"/>
          </a:xfrm>
          <a:prstGeom prst="ellipse">
            <a:avLst/>
          </a:prstGeom>
          <a:solidFill>
            <a:srgbClr val="C58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4343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1444752" y="4224528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Books-first 이후 콘텐츠 Reflection으로 확장할 가능성이 보이는가?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05840" y="58521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6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단계: MVP 구현 → 10권 인터뷰 검증 → 질문 품질 개선 → 실제 사용 가치 확인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8580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AfterMuse · Why Build It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>
            <a:off x="11228832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8C80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5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74624A"/>
                </a:solidFill>
              </a:rPr>
              <a:t>POST-MVP GROWTH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251F1B"/>
                </a:solidFill>
              </a:rPr>
              <a:t>공유·축적·재방문이
제품의 성장 루프가 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38528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B433A"/>
                </a:solidFill>
              </a:rPr>
              <a:t>MVP가 “좋은 질문 → 내 Reflection”을 검증한 뒤, 같은 결과물을 유입과 유지로 확장한다.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43200"/>
            <a:ext cx="301752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" y="2971800"/>
            <a:ext cx="320040" cy="320040"/>
          </a:xfrm>
          <a:prstGeom prst="ellipse">
            <a:avLst/>
          </a:prstGeom>
          <a:solidFill>
            <a:srgbClr val="495F54"/>
          </a:solidFill>
          <a:ln>
            <a:solidFill>
              <a:srgbClr val="495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29260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51F1B"/>
                </a:solidFill>
              </a:rPr>
              <a:t>공유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61188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4B433A"/>
                </a:solidFill>
              </a:rPr>
              <a:t>1장 인사이트 카드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B433A"/>
                </a:solidFill>
              </a:rPr>
              <a:t>공개 Reflection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B433A"/>
                </a:solidFill>
              </a:rPr>
              <a:t>외부 SNS 유입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743200"/>
            <a:ext cx="301752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44568" y="2971800"/>
            <a:ext cx="320040" cy="320040"/>
          </a:xfrm>
          <a:prstGeom prst="ellipse">
            <a:avLst/>
          </a:prstGeom>
          <a:solidFill>
            <a:srgbClr val="495F54"/>
          </a:solidFill>
          <a:ln>
            <a:solidFill>
              <a:srgbClr val="495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29260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51F1B"/>
                </a:solidFill>
              </a:rPr>
              <a:t>축적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361188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4B433A"/>
                </a:solidFill>
              </a:rPr>
              <a:t>개인 지식 그래프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B433A"/>
                </a:solidFill>
              </a:rPr>
              <a:t>심층 취향 리포트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B433A"/>
                </a:solidFill>
              </a:rPr>
              <a:t>기록할수록 좋아짐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2743200"/>
            <a:ext cx="301752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10728" y="2971800"/>
            <a:ext cx="320040" cy="320040"/>
          </a:xfrm>
          <a:prstGeom prst="ellipse">
            <a:avLst/>
          </a:prstGeom>
          <a:solidFill>
            <a:srgbClr val="495F54"/>
          </a:solidFill>
          <a:ln>
            <a:solidFill>
              <a:srgbClr val="495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29260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51F1B"/>
                </a:solidFill>
              </a:rPr>
              <a:t>재방문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361188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4B433A"/>
                </a:solidFill>
              </a:rPr>
              <a:t>Time Capsule / Echo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B433A"/>
                </a:solidFill>
              </a:rPr>
              <a:t>3개월 뒤 다시 묻기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B433A"/>
                </a:solidFill>
              </a:rPr>
              <a:t>생각의 변화 기록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858768" y="3685032"/>
            <a:ext cx="365760" cy="320040"/>
          </a:xfrm>
          <a:prstGeom prst="rightArrow">
            <a:avLst/>
          </a:prstGeom>
          <a:solidFill>
            <a:srgbClr val="AE9777"/>
          </a:solidFill>
          <a:ln>
            <a:solidFill>
              <a:srgbClr val="AE9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424927" y="3685032"/>
            <a:ext cx="365760" cy="320040"/>
          </a:xfrm>
          <a:prstGeom prst="rightArrow">
            <a:avLst/>
          </a:prstGeom>
          <a:solidFill>
            <a:srgbClr val="AE9777"/>
          </a:solidFill>
          <a:ln>
            <a:solidFill>
              <a:srgbClr val="AE9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806440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4624A"/>
                </a:solidFill>
              </a:rPr>
              <a:t>단, MVP는 그대로 유지한다. Growth 기능은 핵심 Interview 품질 검증 이후 Post-MVP에서 실험한다.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46520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4624A"/>
                </a:solidFill>
              </a:rPr>
              <a:t>AfterMuse · Toy Project Concept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AfterMuse — Why Build It</dc:title>
  <dc:subject>AfterMuse MVP concept deck</dc:subject>
  <dc:creator>OpenAI</dc:creator>
  <cp:lastModifiedBy>OpenAI</cp:lastModifiedBy>
  <cp:revision>1</cp:revision>
  <dcterms:created xsi:type="dcterms:W3CDTF">2026-08-27T11:34:42Z</dcterms:created>
  <dcterms:modified xsi:type="dcterms:W3CDTF">2026-08-27T11:34:42Z</dcterms:modified>
</cp:coreProperties>
</file>